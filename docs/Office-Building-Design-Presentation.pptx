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77" r:id="rId2"/>
    <p:sldId id="257" r:id="rId3"/>
    <p:sldId id="258" r:id="rId4"/>
    <p:sldId id="27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304" r:id="rId22"/>
    <p:sldId id="275" r:id="rId23"/>
    <p:sldId id="279" r:id="rId24"/>
    <p:sldId id="305"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76" r:id="rId40"/>
    <p:sldId id="294" r:id="rId41"/>
    <p:sldId id="295" r:id="rId42"/>
    <p:sldId id="296" r:id="rId43"/>
    <p:sldId id="297" r:id="rId44"/>
    <p:sldId id="298" r:id="rId45"/>
    <p:sldId id="299" r:id="rId46"/>
    <p:sldId id="300" r:id="rId47"/>
    <p:sldId id="301" r:id="rId48"/>
    <p:sldId id="302" r:id="rId49"/>
    <p:sldId id="303"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552"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7CC0545C-D86C-4378-8E1C-2A88BCF3C099}" type="datetimeFigureOut">
              <a:rPr lang="en-US" smtClean="0"/>
              <a:t>1/10/2021</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77DD57CF-3A19-4985-82E2-9C8A6E47EE04}" type="slidenum">
              <a:rPr lang="en-US" smtClean="0"/>
              <a:t>‹#›</a:t>
            </a:fld>
            <a:endParaRPr lang="en-US"/>
          </a:p>
        </p:txBody>
      </p:sp>
    </p:spTree>
    <p:extLst>
      <p:ext uri="{BB962C8B-B14F-4D97-AF65-F5344CB8AC3E}">
        <p14:creationId xmlns:p14="http://schemas.microsoft.com/office/powerpoint/2010/main" val="1465575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C0545C-D86C-4378-8E1C-2A88BCF3C099}" type="datetimeFigureOut">
              <a:rPr lang="en-US" smtClean="0"/>
              <a:t>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DD57CF-3A19-4985-82E2-9C8A6E47EE04}" type="slidenum">
              <a:rPr lang="en-US" smtClean="0"/>
              <a:t>‹#›</a:t>
            </a:fld>
            <a:endParaRPr lang="en-US"/>
          </a:p>
        </p:txBody>
      </p:sp>
    </p:spTree>
    <p:extLst>
      <p:ext uri="{BB962C8B-B14F-4D97-AF65-F5344CB8AC3E}">
        <p14:creationId xmlns:p14="http://schemas.microsoft.com/office/powerpoint/2010/main" val="336380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7CC0545C-D86C-4378-8E1C-2A88BCF3C099}" type="datetimeFigureOut">
              <a:rPr lang="en-US" smtClean="0"/>
              <a:t>1/10/2021</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77DD57CF-3A19-4985-82E2-9C8A6E47EE04}" type="slidenum">
              <a:rPr lang="en-US" smtClean="0"/>
              <a:t>‹#›</a:t>
            </a:fld>
            <a:endParaRPr lang="en-US"/>
          </a:p>
        </p:txBody>
      </p:sp>
    </p:spTree>
    <p:extLst>
      <p:ext uri="{BB962C8B-B14F-4D97-AF65-F5344CB8AC3E}">
        <p14:creationId xmlns:p14="http://schemas.microsoft.com/office/powerpoint/2010/main" val="311470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CC0545C-D86C-4378-8E1C-2A88BCF3C099}" type="datetimeFigureOut">
              <a:rPr lang="en-US" smtClean="0"/>
              <a:t>1/10/2021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DD57CF-3A19-4985-82E2-9C8A6E47EE04}" type="slidenum">
              <a:rPr lang="en-US" smtClean="0"/>
              <a:t>‹#›</a:t>
            </a:fld>
            <a:endParaRPr lang="en-US"/>
          </a:p>
        </p:txBody>
      </p:sp>
    </p:spTree>
    <p:extLst>
      <p:ext uri="{BB962C8B-B14F-4D97-AF65-F5344CB8AC3E}">
        <p14:creationId xmlns:p14="http://schemas.microsoft.com/office/powerpoint/2010/main" val="10404760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CC0545C-D86C-4378-8E1C-2A88BCF3C099}" type="datetimeFigureOut">
              <a:rPr lang="en-US" smtClean="0"/>
              <a:t>1/10/2021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7DD57CF-3A19-4985-82E2-9C8A6E47EE04}" type="slidenum">
              <a:rPr lang="en-US" smtClean="0"/>
              <a:t>‹#›</a:t>
            </a:fld>
            <a:endParaRPr lang="en-US"/>
          </a:p>
        </p:txBody>
      </p:sp>
    </p:spTree>
    <p:extLst>
      <p:ext uri="{BB962C8B-B14F-4D97-AF65-F5344CB8AC3E}">
        <p14:creationId xmlns:p14="http://schemas.microsoft.com/office/powerpoint/2010/main" val="3617501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CC0545C-D86C-4378-8E1C-2A88BCF3C099}" type="datetimeFigureOut">
              <a:rPr lang="en-US" smtClean="0"/>
              <a:t>1/10/2021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7DD57CF-3A19-4985-82E2-9C8A6E47EE04}" type="slidenum">
              <a:rPr lang="en-US" smtClean="0"/>
              <a:t>‹#›</a:t>
            </a:fld>
            <a:endParaRPr lang="en-US"/>
          </a:p>
        </p:txBody>
      </p:sp>
    </p:spTree>
    <p:extLst>
      <p:ext uri="{BB962C8B-B14F-4D97-AF65-F5344CB8AC3E}">
        <p14:creationId xmlns:p14="http://schemas.microsoft.com/office/powerpoint/2010/main" val="1026884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C0545C-D86C-4378-8E1C-2A88BCF3C099}" type="datetimeFigureOut">
              <a:rPr lang="en-US" smtClean="0"/>
              <a:t>1/10/2021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7DD57CF-3A19-4985-82E2-9C8A6E47EE04}" type="slidenum">
              <a:rPr lang="en-US" smtClean="0"/>
              <a:t>‹#›</a:t>
            </a:fld>
            <a:endParaRPr lang="en-US"/>
          </a:p>
        </p:txBody>
      </p:sp>
    </p:spTree>
    <p:extLst>
      <p:ext uri="{BB962C8B-B14F-4D97-AF65-F5344CB8AC3E}">
        <p14:creationId xmlns:p14="http://schemas.microsoft.com/office/powerpoint/2010/main" val="4108363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CC0545C-D86C-4378-8E1C-2A88BCF3C099}" type="datetimeFigureOut">
              <a:rPr lang="en-US" smtClean="0"/>
              <a:t>1/10/2021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DD57CF-3A19-4985-82E2-9C8A6E47EE04}" type="slidenum">
              <a:rPr lang="en-US" smtClean="0"/>
              <a:t>‹#›</a:t>
            </a:fld>
            <a:endParaRPr lang="en-US"/>
          </a:p>
        </p:txBody>
      </p:sp>
    </p:spTree>
    <p:extLst>
      <p:ext uri="{BB962C8B-B14F-4D97-AF65-F5344CB8AC3E}">
        <p14:creationId xmlns:p14="http://schemas.microsoft.com/office/powerpoint/2010/main" val="3650109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CC0545C-D86C-4378-8E1C-2A88BCF3C099}" type="datetimeFigureOut">
              <a:rPr lang="en-US" smtClean="0"/>
              <a:t>1/10/2021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DD57CF-3A19-4985-82E2-9C8A6E47EE04}" type="slidenum">
              <a:rPr lang="en-US" smtClean="0"/>
              <a:t>‹#›</a:t>
            </a:fld>
            <a:endParaRPr lang="en-US"/>
          </a:p>
        </p:txBody>
      </p:sp>
    </p:spTree>
    <p:extLst>
      <p:ext uri="{BB962C8B-B14F-4D97-AF65-F5344CB8AC3E}">
        <p14:creationId xmlns:p14="http://schemas.microsoft.com/office/powerpoint/2010/main" val="3972318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CC0545C-D86C-4378-8E1C-2A88BCF3C099}" type="datetimeFigureOut">
              <a:rPr lang="en-US" smtClean="0"/>
              <a:t>1/10/2021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DD57CF-3A19-4985-82E2-9C8A6E47EE04}" type="slidenum">
              <a:rPr lang="en-US" smtClean="0"/>
              <a:t>‹#›</a:t>
            </a:fld>
            <a:endParaRPr lang="en-US"/>
          </a:p>
        </p:txBody>
      </p:sp>
    </p:spTree>
    <p:extLst>
      <p:ext uri="{BB962C8B-B14F-4D97-AF65-F5344CB8AC3E}">
        <p14:creationId xmlns:p14="http://schemas.microsoft.com/office/powerpoint/2010/main" val="51513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7CC0545C-D86C-4378-8E1C-2A88BCF3C099}" type="datetimeFigureOut">
              <a:rPr lang="en-US" smtClean="0"/>
              <a:t>1/10/2021</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77DD57CF-3A19-4985-82E2-9C8A6E47EE04}" type="slidenum">
              <a:rPr lang="en-US" smtClean="0"/>
              <a:t>‹#›</a:t>
            </a:fld>
            <a:endParaRPr lang="en-US"/>
          </a:p>
        </p:txBody>
      </p:sp>
    </p:spTree>
    <p:extLst>
      <p:ext uri="{BB962C8B-B14F-4D97-AF65-F5344CB8AC3E}">
        <p14:creationId xmlns:p14="http://schemas.microsoft.com/office/powerpoint/2010/main" val="501925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7CC0545C-D86C-4378-8E1C-2A88BCF3C099}" type="datetimeFigureOut">
              <a:rPr lang="en-US" smtClean="0"/>
              <a:t>1/10/2021</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77DD57CF-3A19-4985-82E2-9C8A6E47EE04}"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6612244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7CC0545C-D86C-4378-8E1C-2A88BCF3C099}" type="datetimeFigureOut">
              <a:rPr lang="en-US" smtClean="0"/>
              <a:t>1/10/2021</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77DD57CF-3A19-4985-82E2-9C8A6E47EE04}" type="slidenum">
              <a:rPr lang="en-US" smtClean="0"/>
              <a:t>‹#›</a:t>
            </a:fld>
            <a:endParaRPr lang="en-US"/>
          </a:p>
        </p:txBody>
      </p:sp>
    </p:spTree>
    <p:extLst>
      <p:ext uri="{BB962C8B-B14F-4D97-AF65-F5344CB8AC3E}">
        <p14:creationId xmlns:p14="http://schemas.microsoft.com/office/powerpoint/2010/main" val="4393439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CC0545C-D86C-4378-8E1C-2A88BCF3C099}" type="datetimeFigureOut">
              <a:rPr lang="en-US" smtClean="0"/>
              <a:t>1/10/2021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7DD57CF-3A19-4985-82E2-9C8A6E47EE04}" type="slidenum">
              <a:rPr lang="en-US" smtClean="0"/>
              <a:t>‹#›</a:t>
            </a:fld>
            <a:endParaRPr lang="en-US"/>
          </a:p>
        </p:txBody>
      </p:sp>
    </p:spTree>
    <p:extLst>
      <p:ext uri="{BB962C8B-B14F-4D97-AF65-F5344CB8AC3E}">
        <p14:creationId xmlns:p14="http://schemas.microsoft.com/office/powerpoint/2010/main" val="4411216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CC0545C-D86C-4378-8E1C-2A88BCF3C099}" type="datetimeFigureOut">
              <a:rPr lang="en-US" smtClean="0"/>
              <a:t>1/10/2021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7DD57CF-3A19-4985-82E2-9C8A6E47EE04}" type="slidenum">
              <a:rPr lang="en-US" smtClean="0"/>
              <a:t>‹#›</a:t>
            </a:fld>
            <a:endParaRPr lang="en-US"/>
          </a:p>
        </p:txBody>
      </p:sp>
    </p:spTree>
    <p:extLst>
      <p:ext uri="{BB962C8B-B14F-4D97-AF65-F5344CB8AC3E}">
        <p14:creationId xmlns:p14="http://schemas.microsoft.com/office/powerpoint/2010/main" val="22362803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C0545C-D86C-4378-8E1C-2A88BCF3C099}" type="datetimeFigureOut">
              <a:rPr lang="en-US" smtClean="0"/>
              <a:t>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DD57CF-3A19-4985-82E2-9C8A6E47EE04}" type="slidenum">
              <a:rPr lang="en-US" smtClean="0"/>
              <a:t>‹#›</a:t>
            </a:fld>
            <a:endParaRPr lang="en-US"/>
          </a:p>
        </p:txBody>
      </p:sp>
    </p:spTree>
    <p:extLst>
      <p:ext uri="{BB962C8B-B14F-4D97-AF65-F5344CB8AC3E}">
        <p14:creationId xmlns:p14="http://schemas.microsoft.com/office/powerpoint/2010/main" val="33832300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7CC0545C-D86C-4378-8E1C-2A88BCF3C099}" type="datetimeFigureOut">
              <a:rPr lang="en-US" smtClean="0"/>
              <a:t>1/10/2021</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77DD57CF-3A19-4985-82E2-9C8A6E47EE04}" type="slidenum">
              <a:rPr lang="en-US" smtClean="0"/>
              <a:t>‹#›</a:t>
            </a:fld>
            <a:endParaRPr lang="en-US"/>
          </a:p>
        </p:txBody>
      </p:sp>
    </p:spTree>
    <p:extLst>
      <p:ext uri="{BB962C8B-B14F-4D97-AF65-F5344CB8AC3E}">
        <p14:creationId xmlns:p14="http://schemas.microsoft.com/office/powerpoint/2010/main" val="2815268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CC0545C-D86C-4378-8E1C-2A88BCF3C099}" type="datetimeFigureOut">
              <a:rPr lang="en-US" smtClean="0"/>
              <a:t>1/10/2021</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7DD57CF-3A19-4985-82E2-9C8A6E47EE04}" type="slidenum">
              <a:rPr lang="en-US" smtClean="0"/>
              <a:t>‹#›</a:t>
            </a:fld>
            <a:endParaRPr lang="en-US"/>
          </a:p>
        </p:txBody>
      </p:sp>
    </p:spTree>
    <p:extLst>
      <p:ext uri="{BB962C8B-B14F-4D97-AF65-F5344CB8AC3E}">
        <p14:creationId xmlns:p14="http://schemas.microsoft.com/office/powerpoint/2010/main" val="320564855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1650" y="901532"/>
            <a:ext cx="8610600" cy="1293028"/>
          </a:xfrm>
        </p:spPr>
        <p:txBody>
          <a:bodyPr>
            <a:normAutofit/>
          </a:bodyPr>
          <a:lstStyle/>
          <a:p>
            <a:pPr algn="ctr"/>
            <a:r>
              <a:rPr lang="en-US" b="1" dirty="0">
                <a:latin typeface="Times New Roman" panose="02020603050405020304" pitchFamily="18" charset="0"/>
                <a:cs typeface="Times New Roman" panose="02020603050405020304" pitchFamily="18" charset="0"/>
              </a:rPr>
              <a:t>CAD- Project</a:t>
            </a:r>
          </a:p>
        </p:txBody>
      </p:sp>
      <p:sp>
        <p:nvSpPr>
          <p:cNvPr id="3" name="Content Placeholder 2"/>
          <p:cNvSpPr>
            <a:spLocks noGrp="1"/>
          </p:cNvSpPr>
          <p:nvPr>
            <p:ph idx="1"/>
          </p:nvPr>
        </p:nvSpPr>
        <p:spPr>
          <a:xfrm>
            <a:off x="1213834" y="2027135"/>
            <a:ext cx="10820400" cy="4024125"/>
          </a:xfrm>
        </p:spPr>
        <p:txBody>
          <a:bodyPr/>
          <a:lstStyle/>
          <a:p>
            <a:pPr marL="0" indent="0">
              <a:buNone/>
            </a:pPr>
            <a:r>
              <a:rPr lang="en-US" dirty="0"/>
              <a:t>                                      </a:t>
            </a:r>
            <a:r>
              <a:rPr lang="en-US" i="1" dirty="0">
                <a:latin typeface="Times New Roman" panose="02020603050405020304" pitchFamily="18" charset="0"/>
                <a:cs typeface="Times New Roman" panose="02020603050405020304" pitchFamily="18" charset="0"/>
              </a:rPr>
              <a:t>A typical Office Building</a:t>
            </a:r>
          </a:p>
          <a:p>
            <a:pPr marL="0" indent="0">
              <a:buNone/>
            </a:pPr>
            <a:endParaRPr lang="en-US" dirty="0"/>
          </a:p>
          <a:p>
            <a:pPr marL="0" indent="0">
              <a:buNone/>
            </a:pPr>
            <a:r>
              <a:rPr lang="en-US" dirty="0"/>
              <a:t>                                              </a:t>
            </a:r>
            <a:r>
              <a:rPr lang="en-US" sz="2400" b="1" dirty="0">
                <a:latin typeface="Times New Roman" panose="02020603050405020304" pitchFamily="18" charset="0"/>
                <a:cs typeface="Times New Roman" panose="02020603050405020304" pitchFamily="18" charset="0"/>
              </a:rPr>
              <a:t>Group Members     </a:t>
            </a:r>
            <a:endParaRPr lang="en-US" b="1" dirty="0">
              <a:latin typeface="Times New Roman" panose="02020603050405020304" pitchFamily="18" charset="0"/>
              <a:cs typeface="Times New Roman" panose="02020603050405020304" pitchFamily="18" charset="0"/>
            </a:endParaRPr>
          </a:p>
          <a:p>
            <a:pPr marL="0" indent="0" algn="ctr">
              <a:buNone/>
            </a:pPr>
            <a:r>
              <a:rPr lang="en-US" dirty="0">
                <a:solidFill>
                  <a:srgbClr val="7030A0"/>
                </a:solidFill>
                <a:latin typeface="Times New Roman" panose="02020603050405020304" pitchFamily="18" charset="0"/>
                <a:cs typeface="Times New Roman" panose="02020603050405020304" pitchFamily="18" charset="0"/>
              </a:rPr>
              <a:t>                               </a:t>
            </a:r>
            <a:r>
              <a:rPr lang="en-US" i="1" dirty="0">
                <a:solidFill>
                  <a:srgbClr val="7030A0"/>
                </a:solidFill>
                <a:latin typeface="Times New Roman" panose="02020603050405020304" pitchFamily="18" charset="0"/>
                <a:cs typeface="Times New Roman" panose="02020603050405020304" pitchFamily="18" charset="0"/>
              </a:rPr>
              <a:t>   1. </a:t>
            </a:r>
            <a:r>
              <a:rPr lang="en-US" i="1" dirty="0" err="1">
                <a:solidFill>
                  <a:srgbClr val="7030A0"/>
                </a:solidFill>
                <a:latin typeface="Times New Roman" panose="02020603050405020304" pitchFamily="18" charset="0"/>
                <a:cs typeface="Times New Roman" panose="02020603050405020304" pitchFamily="18" charset="0"/>
              </a:rPr>
              <a:t>Umer</a:t>
            </a:r>
            <a:r>
              <a:rPr lang="en-US" i="1" dirty="0">
                <a:solidFill>
                  <a:srgbClr val="7030A0"/>
                </a:solidFill>
                <a:latin typeface="Times New Roman" panose="02020603050405020304" pitchFamily="18" charset="0"/>
                <a:cs typeface="Times New Roman" panose="02020603050405020304" pitchFamily="18" charset="0"/>
              </a:rPr>
              <a:t> Basit</a:t>
            </a:r>
          </a:p>
          <a:p>
            <a:pPr marL="0" indent="0" algn="ctr">
              <a:buNone/>
            </a:pPr>
            <a:r>
              <a:rPr lang="en-US" i="1" dirty="0">
                <a:solidFill>
                  <a:srgbClr val="7030A0"/>
                </a:solidFill>
                <a:latin typeface="Times New Roman" panose="02020603050405020304" pitchFamily="18" charset="0"/>
                <a:cs typeface="Times New Roman" panose="02020603050405020304" pitchFamily="18" charset="0"/>
              </a:rPr>
              <a:t>                                                   2. Muhammad </a:t>
            </a:r>
            <a:r>
              <a:rPr lang="en-US" i="1" dirty="0" err="1">
                <a:solidFill>
                  <a:srgbClr val="7030A0"/>
                </a:solidFill>
                <a:latin typeface="Times New Roman" panose="02020603050405020304" pitchFamily="18" charset="0"/>
                <a:cs typeface="Times New Roman" panose="02020603050405020304" pitchFamily="18" charset="0"/>
              </a:rPr>
              <a:t>Abudllah</a:t>
            </a:r>
            <a:endParaRPr lang="en-US" i="1" dirty="0">
              <a:solidFill>
                <a:srgbClr val="7030A0"/>
              </a:solidFill>
              <a:latin typeface="Times New Roman" panose="02020603050405020304" pitchFamily="18" charset="0"/>
              <a:cs typeface="Times New Roman" panose="02020603050405020304" pitchFamily="18" charset="0"/>
            </a:endParaRPr>
          </a:p>
          <a:p>
            <a:pPr marL="0" indent="0" algn="ctr">
              <a:buNone/>
            </a:pPr>
            <a:r>
              <a:rPr lang="en-US" i="1" dirty="0">
                <a:solidFill>
                  <a:srgbClr val="7030A0"/>
                </a:solidFill>
                <a:latin typeface="Times New Roman" panose="02020603050405020304" pitchFamily="18" charset="0"/>
                <a:cs typeface="Times New Roman" panose="02020603050405020304" pitchFamily="18" charset="0"/>
              </a:rPr>
              <a:t>                                                           3. Muhammad Talha Nadeem                             </a:t>
            </a:r>
          </a:p>
        </p:txBody>
      </p:sp>
    </p:spTree>
    <p:extLst>
      <p:ext uri="{BB962C8B-B14F-4D97-AF65-F5344CB8AC3E}">
        <p14:creationId xmlns:p14="http://schemas.microsoft.com/office/powerpoint/2010/main" val="109034941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8711" y="571190"/>
            <a:ext cx="8610600" cy="1293028"/>
          </a:xfrm>
        </p:spPr>
        <p:txBody>
          <a:bodyPr/>
          <a:lstStyle/>
          <a:p>
            <a:r>
              <a:rPr lang="en-US" u="sng" dirty="0">
                <a:latin typeface="Times New Roman" panose="02020603050405020304" pitchFamily="18" charset="0"/>
                <a:cs typeface="Times New Roman" panose="02020603050405020304" pitchFamily="18" charset="0"/>
              </a:rPr>
              <a:t>Components of an Office Building:</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8408" y="2073499"/>
            <a:ext cx="5840524" cy="4536800"/>
          </a:xfrm>
          <a:prstGeom prst="rect">
            <a:avLst/>
          </a:prstGeom>
        </p:spPr>
      </p:pic>
    </p:spTree>
    <p:extLst>
      <p:ext uri="{BB962C8B-B14F-4D97-AF65-F5344CB8AC3E}">
        <p14:creationId xmlns:p14="http://schemas.microsoft.com/office/powerpoint/2010/main" val="216114868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8366" y="1548046"/>
            <a:ext cx="8610600" cy="1293028"/>
          </a:xfrm>
        </p:spPr>
        <p:txBody>
          <a:bodyPr/>
          <a:lstStyle/>
          <a:p>
            <a:r>
              <a:rPr lang="en-US" dirty="0">
                <a:latin typeface="Times New Roman" panose="02020603050405020304" pitchFamily="18" charset="0"/>
                <a:cs typeface="Times New Roman" panose="02020603050405020304" pitchFamily="18" charset="0"/>
              </a:rPr>
              <a:t>Entrance:</a:t>
            </a:r>
          </a:p>
        </p:txBody>
      </p:sp>
      <p:sp>
        <p:nvSpPr>
          <p:cNvPr id="3" name="Content Placeholder 2"/>
          <p:cNvSpPr>
            <a:spLocks noGrp="1"/>
          </p:cNvSpPr>
          <p:nvPr>
            <p:ph idx="1"/>
          </p:nvPr>
        </p:nvSpPr>
        <p:spPr/>
        <p:txBody>
          <a:bodyPr/>
          <a:lstStyle/>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Entrance of a building is important part of a building and it shows the importance of a building. The proposed drawing consists of entrance with three doors and several windows. Stairs and ramp for disabled people is provided. Different trees and plants are also provided to increase the beauty of the building front.</a:t>
            </a:r>
          </a:p>
          <a:p>
            <a:pPr marL="0" indent="0">
              <a:buNone/>
            </a:pPr>
            <a:endParaRPr lang="en-US" dirty="0"/>
          </a:p>
        </p:txBody>
      </p:sp>
    </p:spTree>
    <p:extLst>
      <p:ext uri="{BB962C8B-B14F-4D97-AF65-F5344CB8AC3E}">
        <p14:creationId xmlns:p14="http://schemas.microsoft.com/office/powerpoint/2010/main" val="345079064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EF7A5-5DDB-409A-A5F8-C8FF8D70DBD0}"/>
              </a:ext>
            </a:extLst>
          </p:cNvPr>
          <p:cNvSpPr>
            <a:spLocks noGrp="1"/>
          </p:cNvSpPr>
          <p:nvPr>
            <p:ph type="title"/>
          </p:nvPr>
        </p:nvSpPr>
        <p:spPr/>
        <p:txBody>
          <a:bodyPr/>
          <a:lstStyle/>
          <a:p>
            <a:endParaRPr lang="en-US" dirty="0"/>
          </a:p>
        </p:txBody>
      </p:sp>
      <p:pic>
        <p:nvPicPr>
          <p:cNvPr id="4" name="Content Placeholder 8">
            <a:extLst>
              <a:ext uri="{FF2B5EF4-FFF2-40B4-BE49-F238E27FC236}">
                <a16:creationId xmlns:a16="http://schemas.microsoft.com/office/drawing/2014/main" id="{F3B35F32-246B-4020-A9C9-301882625B37}"/>
              </a:ext>
            </a:extLst>
          </p:cNvPr>
          <p:cNvPicPr>
            <a:picLocks noGrp="1" noChangeAspect="1"/>
          </p:cNvPicPr>
          <p:nvPr>
            <p:ph idx="1"/>
          </p:nvPr>
        </p:nvPicPr>
        <p:blipFill>
          <a:blip r:embed="rId2"/>
          <a:stretch>
            <a:fillRect/>
          </a:stretch>
        </p:blipFill>
        <p:spPr>
          <a:xfrm>
            <a:off x="685800" y="3057503"/>
            <a:ext cx="10820400" cy="2297156"/>
          </a:xfrm>
        </p:spPr>
      </p:pic>
    </p:spTree>
    <p:extLst>
      <p:ext uri="{BB962C8B-B14F-4D97-AF65-F5344CB8AC3E}">
        <p14:creationId xmlns:p14="http://schemas.microsoft.com/office/powerpoint/2010/main" val="7872208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Entrance Hall and Reception:</a:t>
            </a: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Entrance Hall consists of a reception desk and several seats in the waiting area. Reception desk is important for people visiting building for first time. Waiting area is large enough for people and a television screen is provided. Different counters are also provided in front to deal with visitors.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1391" y="4001294"/>
            <a:ext cx="8316486" cy="2657846"/>
          </a:xfrm>
          <a:prstGeom prst="rect">
            <a:avLst/>
          </a:prstGeom>
        </p:spPr>
      </p:pic>
    </p:spTree>
    <p:extLst>
      <p:ext uri="{BB962C8B-B14F-4D97-AF65-F5344CB8AC3E}">
        <p14:creationId xmlns:p14="http://schemas.microsoft.com/office/powerpoint/2010/main" val="343344410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83238"/>
            <a:ext cx="8610600" cy="1293028"/>
          </a:xfrm>
        </p:spPr>
        <p:txBody>
          <a:bodyPr/>
          <a:lstStyle/>
          <a:p>
            <a:r>
              <a:rPr lang="en-US" dirty="0">
                <a:latin typeface="Times New Roman" panose="02020603050405020304" pitchFamily="18" charset="0"/>
                <a:cs typeface="Times New Roman" panose="02020603050405020304" pitchFamily="18" charset="0"/>
              </a:rPr>
              <a:t>Parking:</a:t>
            </a:r>
          </a:p>
        </p:txBody>
      </p:sp>
      <p:sp>
        <p:nvSpPr>
          <p:cNvPr id="3" name="Content Placeholder 2"/>
          <p:cNvSpPr>
            <a:spLocks noGrp="1"/>
          </p:cNvSpPr>
          <p:nvPr>
            <p:ph idx="1"/>
          </p:nvPr>
        </p:nvSpPr>
        <p:spPr>
          <a:xfrm>
            <a:off x="838200" y="1607352"/>
            <a:ext cx="10515600" cy="4486275"/>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The parking place is where the cars stopped and it might be under the ground floor to save areas and for best exploitation when there no enough spaces outside, also it might be outside when there are enough spaces. It is important for a building of such a size to have a proper parking. A proper parking includes parking for everyone and should be wide enough for easy flow of traffic. The size of the standard car is 2.3m width and 5m length and one the parking cars must have enough space for turning and getting out without making any disturbance for other cars.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9718" y="4518812"/>
            <a:ext cx="6447207" cy="2339188"/>
          </a:xfrm>
          <a:prstGeom prst="rect">
            <a:avLst/>
          </a:prstGeom>
        </p:spPr>
      </p:pic>
    </p:spTree>
    <p:extLst>
      <p:ext uri="{BB962C8B-B14F-4D97-AF65-F5344CB8AC3E}">
        <p14:creationId xmlns:p14="http://schemas.microsoft.com/office/powerpoint/2010/main" val="413605700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Parking:</a:t>
            </a: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Special consideration should be given to the need of disabled people, the special spaces for the disabled persons should be a minimum of 4.8 meters (and up to 6.6 meters) long, with access to the rear of the vehicle where wheelchairs are often stored, the spaces should be 2.4 meters wide plus a minimum of .9 meters (and up to 1.2 meters). Parent and Child Bay is also provided.</a:t>
            </a:r>
          </a:p>
          <a:p>
            <a:pPr marL="0" indent="0">
              <a:buNone/>
            </a:pP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8530" y="3927223"/>
            <a:ext cx="3677810" cy="2792665"/>
          </a:xfrm>
          <a:prstGeom prst="rect">
            <a:avLst/>
          </a:prstGeom>
        </p:spPr>
      </p:pic>
    </p:spTree>
    <p:extLst>
      <p:ext uri="{BB962C8B-B14F-4D97-AF65-F5344CB8AC3E}">
        <p14:creationId xmlns:p14="http://schemas.microsoft.com/office/powerpoint/2010/main" val="161530484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755" y="674221"/>
            <a:ext cx="8610600" cy="1293028"/>
          </a:xfrm>
        </p:spPr>
        <p:txBody>
          <a:bodyPr/>
          <a:lstStyle/>
          <a:p>
            <a:r>
              <a:rPr lang="en-US" dirty="0">
                <a:latin typeface="Times New Roman" panose="02020603050405020304" pitchFamily="18" charset="0"/>
                <a:cs typeface="Times New Roman" panose="02020603050405020304" pitchFamily="18" charset="0"/>
              </a:rPr>
              <a:t>Stairs </a:t>
            </a:r>
          </a:p>
        </p:txBody>
      </p:sp>
      <p:sp>
        <p:nvSpPr>
          <p:cNvPr id="3" name="Content Placeholder 2"/>
          <p:cNvSpPr>
            <a:spLocks noGrp="1"/>
          </p:cNvSpPr>
          <p:nvPr>
            <p:ph idx="1"/>
          </p:nvPr>
        </p:nvSpPr>
        <p:spPr>
          <a:xfrm>
            <a:off x="838200" y="1503653"/>
            <a:ext cx="10515600" cy="4351338"/>
          </a:xfrm>
        </p:spPr>
        <p:txBody>
          <a:bodyPr/>
          <a:lstStyle/>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The stairs are another solution which supports vertical movement within the office building, stairs have a special use when the electricity cut off, in this case the mechanical equipment such as elevators and escalators cannot work, and thus the stairs are the unique solution. Minimum width of stairs for hotels, offices, educational buildings, theaters, cinema halls should be 1.5 meters while minimum width of stairs for institutional buildings and hospitals etc. should be 2 meters. (</a:t>
            </a:r>
            <a:r>
              <a:rPr lang="en-US" dirty="0" err="1">
                <a:latin typeface="Times New Roman" panose="02020603050405020304" pitchFamily="18" charset="0"/>
                <a:cs typeface="Times New Roman" panose="02020603050405020304" pitchFamily="18" charset="0"/>
              </a:rPr>
              <a:t>Neufert</a:t>
            </a:r>
            <a:r>
              <a:rPr lang="en-US" dirty="0">
                <a:latin typeface="Times New Roman" panose="02020603050405020304" pitchFamily="18" charset="0"/>
                <a:cs typeface="Times New Roman" panose="02020603050405020304" pitchFamily="18" charset="0"/>
              </a:rPr>
              <a:t> 2012). Stairs are the primary means of vertical travel during fire emergencies and are generally effective and reliable.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05815" y="4597758"/>
            <a:ext cx="2677946" cy="2260242"/>
          </a:xfrm>
          <a:prstGeom prst="rect">
            <a:avLst/>
          </a:prstGeom>
        </p:spPr>
      </p:pic>
    </p:spTree>
    <p:extLst>
      <p:ext uri="{BB962C8B-B14F-4D97-AF65-F5344CB8AC3E}">
        <p14:creationId xmlns:p14="http://schemas.microsoft.com/office/powerpoint/2010/main" val="363973729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Cafeteria:</a:t>
            </a: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The cafeteria in the office building is a small restaurant for the employees and it might be used by the reviewers on there waiting time, so, it will be for small jobs. The cafeteria must have a position on the ground floor closer to the reviewers and employees and it contains an enough space for tables and staff work place. The standard dimensions for the person to be eat comfortably is 60 cm wide and 40 cm deep. Distribution of Furniture is shown below:</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98088" y="3962403"/>
            <a:ext cx="3202812" cy="2131224"/>
          </a:xfrm>
          <a:prstGeom prst="rect">
            <a:avLst/>
          </a:prstGeom>
        </p:spPr>
      </p:pic>
    </p:spTree>
    <p:extLst>
      <p:ext uri="{BB962C8B-B14F-4D97-AF65-F5344CB8AC3E}">
        <p14:creationId xmlns:p14="http://schemas.microsoft.com/office/powerpoint/2010/main" val="231989572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Kitchen:</a:t>
            </a:r>
          </a:p>
        </p:txBody>
      </p:sp>
      <p:sp>
        <p:nvSpPr>
          <p:cNvPr id="3" name="Content Placeholder 2"/>
          <p:cNvSpPr>
            <a:spLocks noGrp="1"/>
          </p:cNvSpPr>
          <p:nvPr>
            <p:ph idx="1"/>
          </p:nvPr>
        </p:nvSpPr>
        <p:spPr>
          <a:xfrm>
            <a:off x="685800" y="1764406"/>
            <a:ext cx="10820400" cy="4454279"/>
          </a:xfrm>
        </p:spPr>
        <p:txBody>
          <a:bodyPr/>
          <a:lstStyle/>
          <a:p>
            <a:pPr marL="0" indent="0">
              <a:buNone/>
            </a:pPr>
            <a:r>
              <a:rPr lang="en-US" dirty="0">
                <a:latin typeface="Times New Roman" panose="02020603050405020304" pitchFamily="18" charset="0"/>
                <a:cs typeface="Times New Roman" panose="02020603050405020304" pitchFamily="18" charset="0"/>
              </a:rPr>
              <a:t>Kitchen consists of two portions:</a:t>
            </a:r>
          </a:p>
          <a:p>
            <a:r>
              <a:rPr lang="en-US" dirty="0">
                <a:latin typeface="Times New Roman" panose="02020603050405020304" pitchFamily="18" charset="0"/>
                <a:cs typeface="Times New Roman" panose="02020603050405020304" pitchFamily="18" charset="0"/>
              </a:rPr>
              <a:t>Serving Area</a:t>
            </a:r>
          </a:p>
          <a:p>
            <a:r>
              <a:rPr lang="en-US" dirty="0">
                <a:latin typeface="Times New Roman" panose="02020603050405020304" pitchFamily="18" charset="0"/>
                <a:cs typeface="Times New Roman" panose="02020603050405020304" pitchFamily="18" charset="0"/>
              </a:rPr>
              <a:t>Storage Area</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6507" y="3334272"/>
            <a:ext cx="7347294" cy="2123827"/>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4864" y="3342661"/>
            <a:ext cx="2254979" cy="3351788"/>
          </a:xfrm>
          <a:prstGeom prst="rect">
            <a:avLst/>
          </a:prstGeom>
        </p:spPr>
      </p:pic>
    </p:spTree>
    <p:extLst>
      <p:ext uri="{BB962C8B-B14F-4D97-AF65-F5344CB8AC3E}">
        <p14:creationId xmlns:p14="http://schemas.microsoft.com/office/powerpoint/2010/main" val="10311763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Offices:</a:t>
            </a: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The office unit must have an enough space for its use, and depend on the furniture and equipment contain. Thus, the furniture, equipment, movement areas, and the people, will control the space areas. We must take into consideration the flexibility of the spaces this principle fewer barriers to change, less distribution when change does occur, and lower costs in money and time can be accomplished by using open spaces and use flexible materials for construct portions. The spaces should be allocated according to functional requirements, so that the location depend on the people position in the company.</a:t>
            </a:r>
          </a:p>
        </p:txBody>
      </p:sp>
    </p:spTree>
    <p:extLst>
      <p:ext uri="{BB962C8B-B14F-4D97-AF65-F5344CB8AC3E}">
        <p14:creationId xmlns:p14="http://schemas.microsoft.com/office/powerpoint/2010/main" val="72413321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Workstation:</a:t>
            </a:r>
          </a:p>
        </p:txBody>
      </p:sp>
      <p:sp>
        <p:nvSpPr>
          <p:cNvPr id="3" name="Content Placeholder 2"/>
          <p:cNvSpPr>
            <a:spLocks noGrp="1"/>
          </p:cNvSpPr>
          <p:nvPr>
            <p:ph idx="1"/>
          </p:nvPr>
        </p:nvSpPr>
        <p:spPr>
          <a:xfrm>
            <a:off x="685800" y="1803042"/>
            <a:ext cx="10820400" cy="4415643"/>
          </a:xfrm>
        </p:spPr>
        <p:txBody>
          <a:bodyPr/>
          <a:lstStyle/>
          <a:p>
            <a:pPr marL="0" indent="0">
              <a:buNone/>
            </a:pPr>
            <a:r>
              <a:rPr lang="en-US" dirty="0">
                <a:latin typeface="Times New Roman" panose="02020603050405020304" pitchFamily="18" charset="0"/>
                <a:cs typeface="Times New Roman" panose="02020603050405020304" pitchFamily="18" charset="0"/>
              </a:rPr>
              <a:t>The dimensions of a workstation depends upon various job functions. The work stations most frequently used is a desk and it accessories.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8345" y="2781449"/>
            <a:ext cx="4391638" cy="363905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0191" y="2781449"/>
            <a:ext cx="5203065" cy="3633381"/>
          </a:xfrm>
          <a:prstGeom prst="rect">
            <a:avLst/>
          </a:prstGeom>
        </p:spPr>
      </p:pic>
    </p:spTree>
    <p:extLst>
      <p:ext uri="{BB962C8B-B14F-4D97-AF65-F5344CB8AC3E}">
        <p14:creationId xmlns:p14="http://schemas.microsoft.com/office/powerpoint/2010/main" val="400097578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Meeting and conferences rooms:</a:t>
            </a: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The meeting rooms as a standers of functionality, the table shows the surface area of such space in function of its capacity – occupants: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026787"/>
            <a:ext cx="10135216" cy="1841427"/>
          </a:xfrm>
          <a:prstGeom prst="rect">
            <a:avLst/>
          </a:prstGeom>
        </p:spPr>
      </p:pic>
    </p:spTree>
    <p:extLst>
      <p:ext uri="{BB962C8B-B14F-4D97-AF65-F5344CB8AC3E}">
        <p14:creationId xmlns:p14="http://schemas.microsoft.com/office/powerpoint/2010/main" val="66556619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8174" y="635585"/>
            <a:ext cx="8610600" cy="1293028"/>
          </a:xfrm>
        </p:spPr>
        <p:txBody>
          <a:bodyPr/>
          <a:lstStyle/>
          <a:p>
            <a:r>
              <a:rPr lang="en-US" dirty="0">
                <a:latin typeface="Times New Roman" panose="02020603050405020304" pitchFamily="18" charset="0"/>
                <a:cs typeface="Times New Roman" panose="02020603050405020304" pitchFamily="18" charset="0"/>
              </a:rPr>
              <a:t>Meeting and conferences rooms: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52030" y="2057401"/>
            <a:ext cx="8519249" cy="4674522"/>
          </a:xfrm>
        </p:spPr>
      </p:pic>
    </p:spTree>
    <p:extLst>
      <p:ext uri="{BB962C8B-B14F-4D97-AF65-F5344CB8AC3E}">
        <p14:creationId xmlns:p14="http://schemas.microsoft.com/office/powerpoint/2010/main" val="55618229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Treadmill Desks:</a:t>
            </a: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The concept of treadmill desks is new and being used in western parts of the world. It helps to maintain your health while working. Spaces for these desk are also provided in the plan.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0" y="3184005"/>
            <a:ext cx="6535619" cy="3390659"/>
          </a:xfrm>
          <a:prstGeom prst="rect">
            <a:avLst/>
          </a:prstGeom>
        </p:spPr>
      </p:pic>
    </p:spTree>
    <p:extLst>
      <p:ext uri="{BB962C8B-B14F-4D97-AF65-F5344CB8AC3E}">
        <p14:creationId xmlns:p14="http://schemas.microsoft.com/office/powerpoint/2010/main" val="204973664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1048" y="620246"/>
            <a:ext cx="8610600" cy="1293028"/>
          </a:xfrm>
        </p:spPr>
        <p:txBody>
          <a:bodyPr/>
          <a:lstStyle/>
          <a:p>
            <a:r>
              <a:rPr lang="en-US" dirty="0">
                <a:latin typeface="Times New Roman" panose="02020603050405020304" pitchFamily="18" charset="0"/>
                <a:cs typeface="Times New Roman" panose="02020603050405020304" pitchFamily="18" charset="0"/>
              </a:rPr>
              <a:t>Water Closets:</a:t>
            </a:r>
          </a:p>
        </p:txBody>
      </p:sp>
      <p:sp>
        <p:nvSpPr>
          <p:cNvPr id="3" name="Content Placeholder 2"/>
          <p:cNvSpPr>
            <a:spLocks noGrp="1"/>
          </p:cNvSpPr>
          <p:nvPr>
            <p:ph idx="1"/>
          </p:nvPr>
        </p:nvSpPr>
        <p:spPr>
          <a:xfrm>
            <a:off x="685800" y="1906074"/>
            <a:ext cx="10820400" cy="4312612"/>
          </a:xfrm>
        </p:spPr>
        <p:txBody>
          <a:bodyPr/>
          <a:lstStyle/>
          <a:p>
            <a:pPr marL="0" indent="0">
              <a:buNone/>
            </a:pPr>
            <a:r>
              <a:rPr lang="en-US" dirty="0">
                <a:latin typeface="Times New Roman" panose="02020603050405020304" pitchFamily="18" charset="0"/>
                <a:cs typeface="Times New Roman" panose="02020603050405020304" pitchFamily="18" charset="0"/>
              </a:rPr>
              <a:t>Water closets should be provided for both men and women in an office building and proper ventilation should also be provided.</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6600" y="2771205"/>
            <a:ext cx="3620005" cy="4086795"/>
          </a:xfrm>
          <a:prstGeom prst="rect">
            <a:avLst/>
          </a:prstGeom>
        </p:spPr>
      </p:pic>
    </p:spTree>
    <p:extLst>
      <p:ext uri="{BB962C8B-B14F-4D97-AF65-F5344CB8AC3E}">
        <p14:creationId xmlns:p14="http://schemas.microsoft.com/office/powerpoint/2010/main" val="1131130937"/>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Praying Area:</a:t>
            </a: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Praying area for men and women is also provided in the office building.</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1991" y="2772086"/>
            <a:ext cx="3926705" cy="3219899"/>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1844" y="2772086"/>
            <a:ext cx="5353797" cy="3219899"/>
          </a:xfrm>
          <a:prstGeom prst="rect">
            <a:avLst/>
          </a:prstGeom>
        </p:spPr>
      </p:pic>
    </p:spTree>
    <p:extLst>
      <p:ext uri="{BB962C8B-B14F-4D97-AF65-F5344CB8AC3E}">
        <p14:creationId xmlns:p14="http://schemas.microsoft.com/office/powerpoint/2010/main" val="1966388744"/>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Game Room:</a:t>
            </a:r>
          </a:p>
        </p:txBody>
      </p:sp>
      <p:sp>
        <p:nvSpPr>
          <p:cNvPr id="3" name="Content Placeholder 2"/>
          <p:cNvSpPr>
            <a:spLocks noGrp="1"/>
          </p:cNvSpPr>
          <p:nvPr>
            <p:ph idx="1"/>
          </p:nvPr>
        </p:nvSpPr>
        <p:spPr>
          <a:xfrm>
            <a:off x="685800" y="1931832"/>
            <a:ext cx="10820400" cy="4286854"/>
          </a:xfrm>
        </p:spPr>
        <p:txBody>
          <a:bodyPr/>
          <a:lstStyle/>
          <a:p>
            <a:pPr marL="0" indent="0">
              <a:buNone/>
            </a:pPr>
            <a:r>
              <a:rPr lang="en-US" dirty="0">
                <a:latin typeface="Times New Roman" panose="02020603050405020304" pitchFamily="18" charset="0"/>
                <a:cs typeface="Times New Roman" panose="02020603050405020304" pitchFamily="18" charset="0"/>
              </a:rPr>
              <a:t>An office building should not be tense. Relaxing atmosphere should be provided and a room is provided for people to relax for a while.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2025" y="2761678"/>
            <a:ext cx="5477639" cy="4096322"/>
          </a:xfrm>
          <a:prstGeom prst="rect">
            <a:avLst/>
          </a:prstGeom>
        </p:spPr>
      </p:pic>
    </p:spTree>
    <p:extLst>
      <p:ext uri="{BB962C8B-B14F-4D97-AF65-F5344CB8AC3E}">
        <p14:creationId xmlns:p14="http://schemas.microsoft.com/office/powerpoint/2010/main" val="2860100735"/>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Schedule of Opening:</a:t>
            </a:r>
          </a:p>
        </p:txBody>
      </p:sp>
      <p:pic>
        <p:nvPicPr>
          <p:cNvPr id="5" name="Content Placeholder 4">
            <a:extLst>
              <a:ext uri="{FF2B5EF4-FFF2-40B4-BE49-F238E27FC236}">
                <a16:creationId xmlns:a16="http://schemas.microsoft.com/office/drawing/2014/main" id="{D70E6417-AEC0-4EBE-B151-1D73FB8C56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76412" y="2329656"/>
            <a:ext cx="8639175" cy="3752850"/>
          </a:xfrm>
        </p:spPr>
      </p:pic>
    </p:spTree>
    <p:extLst>
      <p:ext uri="{BB962C8B-B14F-4D97-AF65-F5344CB8AC3E}">
        <p14:creationId xmlns:p14="http://schemas.microsoft.com/office/powerpoint/2010/main" val="299539165"/>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Dimensioning:</a:t>
            </a:r>
          </a:p>
        </p:txBody>
      </p:sp>
      <p:pic>
        <p:nvPicPr>
          <p:cNvPr id="5" name="Content Placeholder 4">
            <a:extLst>
              <a:ext uri="{FF2B5EF4-FFF2-40B4-BE49-F238E27FC236}">
                <a16:creationId xmlns:a16="http://schemas.microsoft.com/office/drawing/2014/main" id="{C36D21FA-5C49-495B-A99A-6282979F574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14800" y="2853531"/>
            <a:ext cx="3962400" cy="2705100"/>
          </a:xfrm>
        </p:spPr>
      </p:pic>
    </p:spTree>
    <p:extLst>
      <p:ext uri="{BB962C8B-B14F-4D97-AF65-F5344CB8AC3E}">
        <p14:creationId xmlns:p14="http://schemas.microsoft.com/office/powerpoint/2010/main" val="799005277"/>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D4D1C-C44A-43AC-AA7C-829A2370C3A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95AFC6C-F7D4-4E4E-8692-9EC2AF0B7698}"/>
              </a:ext>
            </a:extLst>
          </p:cNvPr>
          <p:cNvSpPr>
            <a:spLocks noGrp="1"/>
          </p:cNvSpPr>
          <p:nvPr>
            <p:ph idx="1"/>
          </p:nvPr>
        </p:nvSpPr>
        <p:spPr/>
        <p:txBody>
          <a:bodyPr/>
          <a:lstStyle/>
          <a:p>
            <a:r>
              <a:rPr lang="en-US" dirty="0"/>
              <a:t>14 </a:t>
            </a:r>
            <a:r>
              <a:rPr lang="en-US" dirty="0" err="1"/>
              <a:t>Kanal</a:t>
            </a:r>
            <a:endParaRPr lang="en-US" dirty="0"/>
          </a:p>
          <a:p>
            <a:r>
              <a:rPr lang="en-US" dirty="0"/>
              <a:t>280 Marla</a:t>
            </a:r>
          </a:p>
          <a:p>
            <a:r>
              <a:rPr lang="en-US" dirty="0"/>
              <a:t>Other inside dimensioning is all according to the standard that is typically followed.</a:t>
            </a:r>
          </a:p>
        </p:txBody>
      </p:sp>
    </p:spTree>
    <p:extLst>
      <p:ext uri="{BB962C8B-B14F-4D97-AF65-F5344CB8AC3E}">
        <p14:creationId xmlns:p14="http://schemas.microsoft.com/office/powerpoint/2010/main" val="34128958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Gas Supply:</a:t>
            </a:r>
          </a:p>
        </p:txBody>
      </p:sp>
      <p:pic>
        <p:nvPicPr>
          <p:cNvPr id="5" name="Content Placeholder 4">
            <a:extLst>
              <a:ext uri="{FF2B5EF4-FFF2-40B4-BE49-F238E27FC236}">
                <a16:creationId xmlns:a16="http://schemas.microsoft.com/office/drawing/2014/main" id="{EF6BD8B1-F161-4621-8515-A1327363801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09069" y="2193925"/>
            <a:ext cx="6373861" cy="4024313"/>
          </a:xfrm>
        </p:spPr>
      </p:pic>
    </p:spTree>
    <p:extLst>
      <p:ext uri="{BB962C8B-B14F-4D97-AF65-F5344CB8AC3E}">
        <p14:creationId xmlns:p14="http://schemas.microsoft.com/office/powerpoint/2010/main" val="3176544641"/>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22AAF-E19E-4513-869F-8CE8ECC348F8}"/>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C88898B7-937D-4172-ACB7-F4D87932A60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90925" y="2501106"/>
            <a:ext cx="5010150" cy="3409950"/>
          </a:xfrm>
        </p:spPr>
      </p:pic>
    </p:spTree>
    <p:extLst>
      <p:ext uri="{BB962C8B-B14F-4D97-AF65-F5344CB8AC3E}">
        <p14:creationId xmlns:p14="http://schemas.microsoft.com/office/powerpoint/2010/main" val="4158038631"/>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199F1-0E40-4375-95DC-71AFC83AB2C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197280C-2A23-464E-966B-00E03A51B8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55691" y="2193925"/>
            <a:ext cx="8880618" cy="4024313"/>
          </a:xfrm>
        </p:spPr>
      </p:pic>
    </p:spTree>
    <p:extLst>
      <p:ext uri="{BB962C8B-B14F-4D97-AF65-F5344CB8AC3E}">
        <p14:creationId xmlns:p14="http://schemas.microsoft.com/office/powerpoint/2010/main" val="1773450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73378-EC5A-4042-B96D-1016BBFCD62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Elevation :</a:t>
            </a:r>
          </a:p>
        </p:txBody>
      </p:sp>
      <p:pic>
        <p:nvPicPr>
          <p:cNvPr id="9" name="Content Placeholder 8">
            <a:extLst>
              <a:ext uri="{FF2B5EF4-FFF2-40B4-BE49-F238E27FC236}">
                <a16:creationId xmlns:a16="http://schemas.microsoft.com/office/drawing/2014/main" id="{6D20C0E2-688A-4E8F-9B94-82F5B1657C14}"/>
              </a:ext>
            </a:extLst>
          </p:cNvPr>
          <p:cNvPicPr>
            <a:picLocks noGrp="1" noChangeAspect="1"/>
          </p:cNvPicPr>
          <p:nvPr>
            <p:ph idx="1"/>
          </p:nvPr>
        </p:nvPicPr>
        <p:blipFill>
          <a:blip r:embed="rId2"/>
          <a:stretch>
            <a:fillRect/>
          </a:stretch>
        </p:blipFill>
        <p:spPr>
          <a:xfrm>
            <a:off x="1396314" y="2162433"/>
            <a:ext cx="9267567" cy="3299254"/>
          </a:xfrm>
        </p:spPr>
      </p:pic>
    </p:spTree>
    <p:extLst>
      <p:ext uri="{BB962C8B-B14F-4D97-AF65-F5344CB8AC3E}">
        <p14:creationId xmlns:p14="http://schemas.microsoft.com/office/powerpoint/2010/main" val="496044931"/>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D99FD-ECA5-4212-81C3-58D3AF6B6B4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Elevation Cont.</a:t>
            </a:r>
          </a:p>
        </p:txBody>
      </p:sp>
      <p:pic>
        <p:nvPicPr>
          <p:cNvPr id="5" name="Content Placeholder 4">
            <a:extLst>
              <a:ext uri="{FF2B5EF4-FFF2-40B4-BE49-F238E27FC236}">
                <a16:creationId xmlns:a16="http://schemas.microsoft.com/office/drawing/2014/main" id="{F913A722-5C74-44E3-A2F2-1C31CBB3A6C1}"/>
              </a:ext>
            </a:extLst>
          </p:cNvPr>
          <p:cNvPicPr>
            <a:picLocks noGrp="1" noChangeAspect="1"/>
          </p:cNvPicPr>
          <p:nvPr>
            <p:ph idx="1"/>
          </p:nvPr>
        </p:nvPicPr>
        <p:blipFill>
          <a:blip r:embed="rId2"/>
          <a:stretch>
            <a:fillRect/>
          </a:stretch>
        </p:blipFill>
        <p:spPr>
          <a:xfrm>
            <a:off x="2051222" y="2372498"/>
            <a:ext cx="8365524" cy="2471310"/>
          </a:xfrm>
        </p:spPr>
      </p:pic>
    </p:spTree>
    <p:extLst>
      <p:ext uri="{BB962C8B-B14F-4D97-AF65-F5344CB8AC3E}">
        <p14:creationId xmlns:p14="http://schemas.microsoft.com/office/powerpoint/2010/main" val="4150736584"/>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6B56-358C-4F02-9D76-3F09CE365395}"/>
              </a:ext>
            </a:extLst>
          </p:cNvPr>
          <p:cNvSpPr>
            <a:spLocks noGrp="1"/>
          </p:cNvSpPr>
          <p:nvPr>
            <p:ph type="title"/>
          </p:nvPr>
        </p:nvSpPr>
        <p:spPr/>
        <p:txBody>
          <a:bodyPr/>
          <a:lstStyle/>
          <a:p>
            <a:endParaRPr lang="en-US"/>
          </a:p>
        </p:txBody>
      </p:sp>
      <p:pic>
        <p:nvPicPr>
          <p:cNvPr id="9" name="Content Placeholder 8">
            <a:extLst>
              <a:ext uri="{FF2B5EF4-FFF2-40B4-BE49-F238E27FC236}">
                <a16:creationId xmlns:a16="http://schemas.microsoft.com/office/drawing/2014/main" id="{A1B45524-7C7D-498A-828F-10A9D4EACCE9}"/>
              </a:ext>
            </a:extLst>
          </p:cNvPr>
          <p:cNvPicPr>
            <a:picLocks noGrp="1" noChangeAspect="1"/>
          </p:cNvPicPr>
          <p:nvPr>
            <p:ph idx="1"/>
          </p:nvPr>
        </p:nvPicPr>
        <p:blipFill>
          <a:blip r:embed="rId2"/>
          <a:stretch>
            <a:fillRect/>
          </a:stretch>
        </p:blipFill>
        <p:spPr>
          <a:xfrm>
            <a:off x="1767016" y="2928551"/>
            <a:ext cx="8711514" cy="1915256"/>
          </a:xfrm>
        </p:spPr>
      </p:pic>
    </p:spTree>
    <p:extLst>
      <p:ext uri="{BB962C8B-B14F-4D97-AF65-F5344CB8AC3E}">
        <p14:creationId xmlns:p14="http://schemas.microsoft.com/office/powerpoint/2010/main" val="1853466963"/>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6CC12-159C-40AA-81E5-98FCFB241B0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Elevation Features:</a:t>
            </a:r>
          </a:p>
        </p:txBody>
      </p:sp>
      <p:sp>
        <p:nvSpPr>
          <p:cNvPr id="3" name="Content Placeholder 2">
            <a:extLst>
              <a:ext uri="{FF2B5EF4-FFF2-40B4-BE49-F238E27FC236}">
                <a16:creationId xmlns:a16="http://schemas.microsoft.com/office/drawing/2014/main" id="{FFC09B81-C762-4D3D-A8C9-4B39A1EE15DE}"/>
              </a:ext>
            </a:extLst>
          </p:cNvPr>
          <p:cNvSpPr>
            <a:spLocks noGrp="1"/>
          </p:cNvSpPr>
          <p:nvPr>
            <p:ph sz="half" idx="1"/>
          </p:nvPr>
        </p:nvSpPr>
        <p:spPr/>
        <p:txBody>
          <a:bodyPr/>
          <a:lstStyle/>
          <a:p>
            <a:endParaRPr lang="en-US" dirty="0"/>
          </a:p>
          <a:p>
            <a:r>
              <a:rPr lang="en-US" dirty="0"/>
              <a:t>Only Ground Floor</a:t>
            </a:r>
          </a:p>
          <a:p>
            <a:r>
              <a:rPr lang="en-US" dirty="0"/>
              <a:t>Double Glazed Windows</a:t>
            </a:r>
          </a:p>
          <a:p>
            <a:r>
              <a:rPr lang="en-US" dirty="0"/>
              <a:t>Head Room</a:t>
            </a:r>
          </a:p>
          <a:p>
            <a:r>
              <a:rPr lang="en-US" dirty="0"/>
              <a:t>Greenery</a:t>
            </a:r>
          </a:p>
          <a:p>
            <a:r>
              <a:rPr lang="en-US" dirty="0"/>
              <a:t>Rolling Glass Door at Front</a:t>
            </a:r>
          </a:p>
          <a:p>
            <a:endParaRPr lang="en-US" dirty="0"/>
          </a:p>
        </p:txBody>
      </p:sp>
    </p:spTree>
    <p:extLst>
      <p:ext uri="{BB962C8B-B14F-4D97-AF65-F5344CB8AC3E}">
        <p14:creationId xmlns:p14="http://schemas.microsoft.com/office/powerpoint/2010/main" val="1146936411"/>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A7D20-8725-4A9C-AC39-ED6C9014DD27}"/>
              </a:ext>
            </a:extLst>
          </p:cNvPr>
          <p:cNvSpPr>
            <a:spLocks noGrp="1"/>
          </p:cNvSpPr>
          <p:nvPr>
            <p:ph type="title"/>
          </p:nvPr>
        </p:nvSpPr>
        <p:spPr>
          <a:xfrm>
            <a:off x="1066800" y="642594"/>
            <a:ext cx="10058400" cy="5325720"/>
          </a:xfrm>
        </p:spPr>
        <p:txBody>
          <a:bodyPr/>
          <a:lstStyle/>
          <a:p>
            <a:pPr algn="ct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Sections:</a:t>
            </a:r>
          </a:p>
        </p:txBody>
      </p:sp>
    </p:spTree>
    <p:extLst>
      <p:ext uri="{BB962C8B-B14F-4D97-AF65-F5344CB8AC3E}">
        <p14:creationId xmlns:p14="http://schemas.microsoft.com/office/powerpoint/2010/main" val="3294328443"/>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11CCA-918A-42E2-9A8B-38D2D4C0A0DD}"/>
              </a:ext>
            </a:extLst>
          </p:cNvPr>
          <p:cNvSpPr>
            <a:spLocks noGrp="1"/>
          </p:cNvSpPr>
          <p:nvPr>
            <p:ph type="title"/>
          </p:nvPr>
        </p:nvSpPr>
        <p:spPr/>
        <p:txBody>
          <a:bodyPr/>
          <a:lstStyle/>
          <a:p>
            <a:r>
              <a:rPr lang="en-US" dirty="0"/>
              <a:t>Section A-A’</a:t>
            </a:r>
          </a:p>
        </p:txBody>
      </p:sp>
      <p:pic>
        <p:nvPicPr>
          <p:cNvPr id="5" name="Content Placeholder 4">
            <a:extLst>
              <a:ext uri="{FF2B5EF4-FFF2-40B4-BE49-F238E27FC236}">
                <a16:creationId xmlns:a16="http://schemas.microsoft.com/office/drawing/2014/main" id="{4F5BC487-65E5-4B45-A481-621E5A64B54B}"/>
              </a:ext>
            </a:extLst>
          </p:cNvPr>
          <p:cNvPicPr>
            <a:picLocks noGrp="1" noChangeAspect="1"/>
          </p:cNvPicPr>
          <p:nvPr>
            <p:ph idx="1"/>
          </p:nvPr>
        </p:nvPicPr>
        <p:blipFill>
          <a:blip r:embed="rId2"/>
          <a:stretch>
            <a:fillRect/>
          </a:stretch>
        </p:blipFill>
        <p:spPr>
          <a:xfrm>
            <a:off x="1066800" y="2520777"/>
            <a:ext cx="10058400" cy="2780271"/>
          </a:xfrm>
        </p:spPr>
      </p:pic>
    </p:spTree>
    <p:extLst>
      <p:ext uri="{BB962C8B-B14F-4D97-AF65-F5344CB8AC3E}">
        <p14:creationId xmlns:p14="http://schemas.microsoft.com/office/powerpoint/2010/main" val="617212618"/>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1E642-0E36-4DAB-B0EB-6A8E043C93D6}"/>
              </a:ext>
            </a:extLst>
          </p:cNvPr>
          <p:cNvSpPr>
            <a:spLocks noGrp="1"/>
          </p:cNvSpPr>
          <p:nvPr>
            <p:ph type="title"/>
          </p:nvPr>
        </p:nvSpPr>
        <p:spPr/>
        <p:txBody>
          <a:bodyPr/>
          <a:lstStyle/>
          <a:p>
            <a:endParaRPr lang="en-US" dirty="0"/>
          </a:p>
        </p:txBody>
      </p:sp>
      <p:pic>
        <p:nvPicPr>
          <p:cNvPr id="9" name="Content Placeholder 8">
            <a:extLst>
              <a:ext uri="{FF2B5EF4-FFF2-40B4-BE49-F238E27FC236}">
                <a16:creationId xmlns:a16="http://schemas.microsoft.com/office/drawing/2014/main" id="{D69E13D1-E8A5-4A01-B310-BBBEDF9DBC20}"/>
              </a:ext>
            </a:extLst>
          </p:cNvPr>
          <p:cNvPicPr>
            <a:picLocks noGrp="1" noChangeAspect="1"/>
          </p:cNvPicPr>
          <p:nvPr>
            <p:ph idx="1"/>
          </p:nvPr>
        </p:nvPicPr>
        <p:blipFill>
          <a:blip r:embed="rId2"/>
          <a:stretch>
            <a:fillRect/>
          </a:stretch>
        </p:blipFill>
        <p:spPr>
          <a:xfrm>
            <a:off x="1066800" y="2471352"/>
            <a:ext cx="10058400" cy="3064476"/>
          </a:xfrm>
        </p:spPr>
      </p:pic>
    </p:spTree>
    <p:extLst>
      <p:ext uri="{BB962C8B-B14F-4D97-AF65-F5344CB8AC3E}">
        <p14:creationId xmlns:p14="http://schemas.microsoft.com/office/powerpoint/2010/main" val="707992497"/>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F3FD3-4E70-45AB-AE92-FAFF2C584ED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D5697CC-3EFA-4B6F-B5F4-972400217DF4}"/>
              </a:ext>
            </a:extLst>
          </p:cNvPr>
          <p:cNvPicPr>
            <a:picLocks noGrp="1" noChangeAspect="1"/>
          </p:cNvPicPr>
          <p:nvPr>
            <p:ph idx="1"/>
          </p:nvPr>
        </p:nvPicPr>
        <p:blipFill>
          <a:blip r:embed="rId2"/>
          <a:stretch>
            <a:fillRect/>
          </a:stretch>
        </p:blipFill>
        <p:spPr>
          <a:xfrm>
            <a:off x="1881187" y="2128044"/>
            <a:ext cx="8429625" cy="3800475"/>
          </a:xfrm>
        </p:spPr>
      </p:pic>
    </p:spTree>
    <p:extLst>
      <p:ext uri="{BB962C8B-B14F-4D97-AF65-F5344CB8AC3E}">
        <p14:creationId xmlns:p14="http://schemas.microsoft.com/office/powerpoint/2010/main" val="2716120525"/>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27D6E-CFD4-432B-87BF-E1B07703C4E3}"/>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C02FBA4-B6F9-4208-8194-0134405BD047}"/>
              </a:ext>
            </a:extLst>
          </p:cNvPr>
          <p:cNvPicPr>
            <a:picLocks noGrp="1" noChangeAspect="1"/>
          </p:cNvPicPr>
          <p:nvPr>
            <p:ph idx="1"/>
          </p:nvPr>
        </p:nvPicPr>
        <p:blipFill>
          <a:blip r:embed="rId2"/>
          <a:stretch>
            <a:fillRect/>
          </a:stretch>
        </p:blipFill>
        <p:spPr>
          <a:xfrm>
            <a:off x="1066800" y="2817341"/>
            <a:ext cx="10058400" cy="2285999"/>
          </a:xfrm>
        </p:spPr>
      </p:pic>
    </p:spTree>
    <p:extLst>
      <p:ext uri="{BB962C8B-B14F-4D97-AF65-F5344CB8AC3E}">
        <p14:creationId xmlns:p14="http://schemas.microsoft.com/office/powerpoint/2010/main" val="3133298269"/>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DF728-F3CC-4CD1-91ED-E91A38B61939}"/>
              </a:ext>
            </a:extLst>
          </p:cNvPr>
          <p:cNvSpPr>
            <a:spLocks noGrp="1"/>
          </p:cNvSpPr>
          <p:nvPr>
            <p:ph type="title"/>
          </p:nvPr>
        </p:nvSpPr>
        <p:spPr/>
        <p:txBody>
          <a:bodyPr/>
          <a:lstStyle/>
          <a:p>
            <a:r>
              <a:rPr lang="en-US" dirty="0"/>
              <a:t>Section B-B’</a:t>
            </a:r>
          </a:p>
        </p:txBody>
      </p:sp>
      <p:pic>
        <p:nvPicPr>
          <p:cNvPr id="5" name="Content Placeholder 4">
            <a:extLst>
              <a:ext uri="{FF2B5EF4-FFF2-40B4-BE49-F238E27FC236}">
                <a16:creationId xmlns:a16="http://schemas.microsoft.com/office/drawing/2014/main" id="{003367B5-0E4B-480C-B8C1-E23D86110067}"/>
              </a:ext>
            </a:extLst>
          </p:cNvPr>
          <p:cNvPicPr>
            <a:picLocks noGrp="1" noChangeAspect="1"/>
          </p:cNvPicPr>
          <p:nvPr>
            <p:ph idx="1"/>
          </p:nvPr>
        </p:nvPicPr>
        <p:blipFill>
          <a:blip r:embed="rId2"/>
          <a:stretch>
            <a:fillRect/>
          </a:stretch>
        </p:blipFill>
        <p:spPr>
          <a:xfrm>
            <a:off x="3163331" y="1915297"/>
            <a:ext cx="5634680" cy="4164227"/>
          </a:xfrm>
        </p:spPr>
      </p:pic>
    </p:spTree>
    <p:extLst>
      <p:ext uri="{BB962C8B-B14F-4D97-AF65-F5344CB8AC3E}">
        <p14:creationId xmlns:p14="http://schemas.microsoft.com/office/powerpoint/2010/main" val="679075371"/>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4079D-C01C-4A9D-BB55-3C38EF680EDC}"/>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4E6D91F0-8B2B-4DA1-8610-49B72A33FDAE}"/>
              </a:ext>
            </a:extLst>
          </p:cNvPr>
          <p:cNvPicPr>
            <a:picLocks noGrp="1" noChangeAspect="1"/>
          </p:cNvPicPr>
          <p:nvPr>
            <p:ph idx="1"/>
          </p:nvPr>
        </p:nvPicPr>
        <p:blipFill>
          <a:blip r:embed="rId2"/>
          <a:stretch>
            <a:fillRect/>
          </a:stretch>
        </p:blipFill>
        <p:spPr>
          <a:xfrm>
            <a:off x="1066800" y="2928551"/>
            <a:ext cx="10058400" cy="1980329"/>
          </a:xfrm>
        </p:spPr>
      </p:pic>
    </p:spTree>
    <p:extLst>
      <p:ext uri="{BB962C8B-B14F-4D97-AF65-F5344CB8AC3E}">
        <p14:creationId xmlns:p14="http://schemas.microsoft.com/office/powerpoint/2010/main" val="2266636742"/>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92B5F-5E97-42D2-8A59-74AC7BB1B7A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C482D3F-F806-46AF-ADEA-54864385DA75}"/>
              </a:ext>
            </a:extLst>
          </p:cNvPr>
          <p:cNvPicPr>
            <a:picLocks noGrp="1" noChangeAspect="1"/>
          </p:cNvPicPr>
          <p:nvPr>
            <p:ph idx="1"/>
          </p:nvPr>
        </p:nvPicPr>
        <p:blipFill>
          <a:blip r:embed="rId2"/>
          <a:stretch>
            <a:fillRect/>
          </a:stretch>
        </p:blipFill>
        <p:spPr>
          <a:xfrm>
            <a:off x="1066800" y="2792627"/>
            <a:ext cx="10058400" cy="2116253"/>
          </a:xfrm>
        </p:spPr>
      </p:pic>
    </p:spTree>
    <p:extLst>
      <p:ext uri="{BB962C8B-B14F-4D97-AF65-F5344CB8AC3E}">
        <p14:creationId xmlns:p14="http://schemas.microsoft.com/office/powerpoint/2010/main" val="1782544252"/>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2CBB6-F89B-4C0B-A951-644F99D1A871}"/>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C15BF887-5F4A-4577-A27E-FB6D2083FA0A}"/>
              </a:ext>
            </a:extLst>
          </p:cNvPr>
          <p:cNvPicPr>
            <a:picLocks noGrp="1" noChangeAspect="1"/>
          </p:cNvPicPr>
          <p:nvPr>
            <p:ph idx="1"/>
          </p:nvPr>
        </p:nvPicPr>
        <p:blipFill>
          <a:blip r:embed="rId2"/>
          <a:stretch>
            <a:fillRect/>
          </a:stretch>
        </p:blipFill>
        <p:spPr>
          <a:xfrm>
            <a:off x="2045368" y="2103438"/>
            <a:ext cx="8101264" cy="3849687"/>
          </a:xfrm>
        </p:spPr>
      </p:pic>
    </p:spTree>
    <p:extLst>
      <p:ext uri="{BB962C8B-B14F-4D97-AF65-F5344CB8AC3E}">
        <p14:creationId xmlns:p14="http://schemas.microsoft.com/office/powerpoint/2010/main" val="3172781035"/>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1CC41-FB3F-4E96-8E26-F2388096A803}"/>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50D54328-F662-4656-9CA8-2C9D41D7C1D6}"/>
              </a:ext>
            </a:extLst>
          </p:cNvPr>
          <p:cNvPicPr>
            <a:picLocks noGrp="1" noChangeAspect="1"/>
          </p:cNvPicPr>
          <p:nvPr>
            <p:ph idx="1"/>
          </p:nvPr>
        </p:nvPicPr>
        <p:blipFill>
          <a:blip r:embed="rId2"/>
          <a:stretch>
            <a:fillRect/>
          </a:stretch>
        </p:blipFill>
        <p:spPr>
          <a:xfrm>
            <a:off x="4843462" y="3171031"/>
            <a:ext cx="2505075" cy="1714500"/>
          </a:xfrm>
        </p:spPr>
      </p:pic>
    </p:spTree>
    <p:extLst>
      <p:ext uri="{BB962C8B-B14F-4D97-AF65-F5344CB8AC3E}">
        <p14:creationId xmlns:p14="http://schemas.microsoft.com/office/powerpoint/2010/main" val="3091492248"/>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DF374-6018-4EEC-B923-2DA26444869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2ECA95D-5378-4E76-ACB1-3502A1ED1E42}"/>
              </a:ext>
            </a:extLst>
          </p:cNvPr>
          <p:cNvPicPr>
            <a:picLocks noGrp="1" noChangeAspect="1"/>
          </p:cNvPicPr>
          <p:nvPr>
            <p:ph idx="1"/>
          </p:nvPr>
        </p:nvPicPr>
        <p:blipFill>
          <a:blip r:embed="rId2"/>
          <a:stretch>
            <a:fillRect/>
          </a:stretch>
        </p:blipFill>
        <p:spPr>
          <a:xfrm>
            <a:off x="1066800" y="2360141"/>
            <a:ext cx="10058400" cy="3129774"/>
          </a:xfrm>
        </p:spPr>
      </p:pic>
    </p:spTree>
    <p:extLst>
      <p:ext uri="{BB962C8B-B14F-4D97-AF65-F5344CB8AC3E}">
        <p14:creationId xmlns:p14="http://schemas.microsoft.com/office/powerpoint/2010/main" val="3626870133"/>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6DA52-80FF-4753-A652-CCC7ACAF8511}"/>
              </a:ext>
            </a:extLst>
          </p:cNvPr>
          <p:cNvSpPr>
            <a:spLocks noGrp="1"/>
          </p:cNvSpPr>
          <p:nvPr>
            <p:ph type="title"/>
          </p:nvPr>
        </p:nvSpPr>
        <p:spPr>
          <a:xfrm>
            <a:off x="1066800" y="642593"/>
            <a:ext cx="10058400" cy="5387503"/>
          </a:xfrm>
        </p:spPr>
        <p:txBody>
          <a:bodyPr/>
          <a:lstStyle/>
          <a:p>
            <a:pPr algn="ctr"/>
            <a:r>
              <a:rPr lang="en-US" dirty="0">
                <a:latin typeface="Times New Roman" panose="02020603050405020304" pitchFamily="18" charset="0"/>
                <a:cs typeface="Times New Roman" panose="02020603050405020304" pitchFamily="18" charset="0"/>
              </a:rPr>
              <a:t>Water Supply Plan</a:t>
            </a:r>
          </a:p>
        </p:txBody>
      </p:sp>
    </p:spTree>
    <p:extLst>
      <p:ext uri="{BB962C8B-B14F-4D97-AF65-F5344CB8AC3E}">
        <p14:creationId xmlns:p14="http://schemas.microsoft.com/office/powerpoint/2010/main" val="2394985371"/>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40B9C-275F-4188-8437-C3F8BC894630}"/>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9BE2B25-BF24-4F6C-BFA4-CA64FBBB0C23}"/>
              </a:ext>
            </a:extLst>
          </p:cNvPr>
          <p:cNvPicPr>
            <a:picLocks noGrp="1" noChangeAspect="1"/>
          </p:cNvPicPr>
          <p:nvPr>
            <p:ph idx="1"/>
          </p:nvPr>
        </p:nvPicPr>
        <p:blipFill>
          <a:blip r:embed="rId2"/>
          <a:stretch>
            <a:fillRect/>
          </a:stretch>
        </p:blipFill>
        <p:spPr>
          <a:xfrm>
            <a:off x="1066800" y="2459878"/>
            <a:ext cx="10058400" cy="3136807"/>
          </a:xfrm>
        </p:spPr>
      </p:pic>
    </p:spTree>
    <p:extLst>
      <p:ext uri="{BB962C8B-B14F-4D97-AF65-F5344CB8AC3E}">
        <p14:creationId xmlns:p14="http://schemas.microsoft.com/office/powerpoint/2010/main" val="339851438"/>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51552-0F1B-487B-9C07-07EAF37440D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317EE16-31DD-472D-87C2-DBED6803EDDE}"/>
              </a:ext>
            </a:extLst>
          </p:cNvPr>
          <p:cNvPicPr>
            <a:picLocks noGrp="1" noChangeAspect="1"/>
          </p:cNvPicPr>
          <p:nvPr>
            <p:ph idx="1"/>
          </p:nvPr>
        </p:nvPicPr>
        <p:blipFill>
          <a:blip r:embed="rId2"/>
          <a:stretch>
            <a:fillRect/>
          </a:stretch>
        </p:blipFill>
        <p:spPr>
          <a:xfrm>
            <a:off x="1066800" y="2162074"/>
            <a:ext cx="10058400" cy="3732414"/>
          </a:xfrm>
        </p:spPr>
      </p:pic>
    </p:spTree>
    <p:extLst>
      <p:ext uri="{BB962C8B-B14F-4D97-AF65-F5344CB8AC3E}">
        <p14:creationId xmlns:p14="http://schemas.microsoft.com/office/powerpoint/2010/main" val="2851269803"/>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C50D9-D3AC-4354-AF21-2E88CF8BEAB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879816D-64BE-4F5C-BCD1-37354E3B97D5}"/>
              </a:ext>
            </a:extLst>
          </p:cNvPr>
          <p:cNvPicPr>
            <a:picLocks noGrp="1" noChangeAspect="1"/>
          </p:cNvPicPr>
          <p:nvPr>
            <p:ph idx="1"/>
          </p:nvPr>
        </p:nvPicPr>
        <p:blipFill>
          <a:blip r:embed="rId2"/>
          <a:stretch>
            <a:fillRect/>
          </a:stretch>
        </p:blipFill>
        <p:spPr>
          <a:xfrm>
            <a:off x="3766547" y="2103438"/>
            <a:ext cx="4658906" cy="3849687"/>
          </a:xfrm>
        </p:spPr>
      </p:pic>
    </p:spTree>
    <p:extLst>
      <p:ext uri="{BB962C8B-B14F-4D97-AF65-F5344CB8AC3E}">
        <p14:creationId xmlns:p14="http://schemas.microsoft.com/office/powerpoint/2010/main" val="121903369"/>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CEB31-E5DC-4BB5-90FF-2EA1DDBDC48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EA4B6CC-0752-409C-827C-C2E7EA9ADACD}"/>
              </a:ext>
            </a:extLst>
          </p:cNvPr>
          <p:cNvPicPr>
            <a:picLocks noGrp="1" noChangeAspect="1"/>
          </p:cNvPicPr>
          <p:nvPr>
            <p:ph idx="1"/>
          </p:nvPr>
        </p:nvPicPr>
        <p:blipFill>
          <a:blip r:embed="rId2"/>
          <a:stretch>
            <a:fillRect/>
          </a:stretch>
        </p:blipFill>
        <p:spPr>
          <a:xfrm>
            <a:off x="4157912" y="2103438"/>
            <a:ext cx="3876175" cy="3849687"/>
          </a:xfrm>
        </p:spPr>
      </p:pic>
    </p:spTree>
    <p:extLst>
      <p:ext uri="{BB962C8B-B14F-4D97-AF65-F5344CB8AC3E}">
        <p14:creationId xmlns:p14="http://schemas.microsoft.com/office/powerpoint/2010/main" val="2618816188"/>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1E0F7-B0B2-400B-B097-4441117873C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ED514E2-56EB-4BC1-91B5-A2E55E0D2778}"/>
              </a:ext>
            </a:extLst>
          </p:cNvPr>
          <p:cNvPicPr>
            <a:picLocks noGrp="1" noChangeAspect="1"/>
          </p:cNvPicPr>
          <p:nvPr>
            <p:ph idx="1"/>
          </p:nvPr>
        </p:nvPicPr>
        <p:blipFill>
          <a:blip r:embed="rId2"/>
          <a:stretch>
            <a:fillRect/>
          </a:stretch>
        </p:blipFill>
        <p:spPr>
          <a:xfrm>
            <a:off x="4772025" y="2175669"/>
            <a:ext cx="2647950" cy="3705225"/>
          </a:xfrm>
        </p:spPr>
      </p:pic>
    </p:spTree>
    <p:extLst>
      <p:ext uri="{BB962C8B-B14F-4D97-AF65-F5344CB8AC3E}">
        <p14:creationId xmlns:p14="http://schemas.microsoft.com/office/powerpoint/2010/main" val="2415217324"/>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8DC64-535C-4CA7-A357-C19C5FE2D3D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Legend</a:t>
            </a:r>
          </a:p>
        </p:txBody>
      </p:sp>
      <p:pic>
        <p:nvPicPr>
          <p:cNvPr id="5" name="Content Placeholder 4">
            <a:extLst>
              <a:ext uri="{FF2B5EF4-FFF2-40B4-BE49-F238E27FC236}">
                <a16:creationId xmlns:a16="http://schemas.microsoft.com/office/drawing/2014/main" id="{8A4CE490-0418-4E86-B738-53AFD73C67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97867" y="2193925"/>
            <a:ext cx="3196265" cy="4024313"/>
          </a:xfrm>
        </p:spPr>
      </p:pic>
    </p:spTree>
    <p:extLst>
      <p:ext uri="{BB962C8B-B14F-4D97-AF65-F5344CB8AC3E}">
        <p14:creationId xmlns:p14="http://schemas.microsoft.com/office/powerpoint/2010/main" val="175267371"/>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4FB19-0B13-4AF5-892B-21DBEE9C222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Sustainable Building</a:t>
            </a:r>
          </a:p>
        </p:txBody>
      </p:sp>
      <p:sp>
        <p:nvSpPr>
          <p:cNvPr id="3" name="Content Placeholder 2">
            <a:extLst>
              <a:ext uri="{FF2B5EF4-FFF2-40B4-BE49-F238E27FC236}">
                <a16:creationId xmlns:a16="http://schemas.microsoft.com/office/drawing/2014/main" id="{20BC1379-64CD-478F-B146-4BC0A106C53A}"/>
              </a:ext>
            </a:extLst>
          </p:cNvPr>
          <p:cNvSpPr>
            <a:spLocks noGrp="1"/>
          </p:cNvSpPr>
          <p:nvPr>
            <p:ph idx="1"/>
          </p:nvPr>
        </p:nvSpPr>
        <p:spPr/>
        <p:txBody>
          <a:bodyPr>
            <a:normAutofit/>
          </a:bodyPr>
          <a:lstStyle/>
          <a:p>
            <a:r>
              <a:rPr lang="en-US" dirty="0"/>
              <a:t>Install double-glazed windows</a:t>
            </a:r>
          </a:p>
          <a:p>
            <a:pPr marL="0" indent="0">
              <a:buNone/>
            </a:pPr>
            <a:r>
              <a:rPr lang="en-US" dirty="0"/>
              <a:t>Double glazed windows help to insulate the house, making it cooler during the summer and warmer during the winter. One can as well use thermal blackout curtains in place of double glazed windows in case they are too costly.</a:t>
            </a:r>
          </a:p>
          <a:p>
            <a:endParaRPr lang="en-US" dirty="0"/>
          </a:p>
          <a:p>
            <a:r>
              <a:rPr lang="en-US" dirty="0"/>
              <a:t>Choose appliances that have more energy-efficiency</a:t>
            </a:r>
          </a:p>
          <a:p>
            <a:pPr marL="0" indent="0">
              <a:buNone/>
            </a:pPr>
            <a:r>
              <a:rPr lang="en-US" dirty="0"/>
              <a:t>Swapping of the regular electrical appliances with energy-saving certified products is highly desirable for a sustainable house.</a:t>
            </a:r>
          </a:p>
        </p:txBody>
      </p:sp>
    </p:spTree>
    <p:extLst>
      <p:ext uri="{BB962C8B-B14F-4D97-AF65-F5344CB8AC3E}">
        <p14:creationId xmlns:p14="http://schemas.microsoft.com/office/powerpoint/2010/main" val="328595136"/>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C7079-7FCE-49E6-ABE0-FC826FF517D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E623464-99C8-4FD0-8C27-2B9CDA19FAD2}"/>
              </a:ext>
            </a:extLst>
          </p:cNvPr>
          <p:cNvSpPr>
            <a:spLocks noGrp="1"/>
          </p:cNvSpPr>
          <p:nvPr>
            <p:ph idx="1"/>
          </p:nvPr>
        </p:nvSpPr>
        <p:spPr/>
        <p:txBody>
          <a:bodyPr/>
          <a:lstStyle/>
          <a:p>
            <a:r>
              <a:rPr lang="en-US" dirty="0"/>
              <a:t> Installation of solar panels and temperature-regulating walls</a:t>
            </a:r>
          </a:p>
          <a:p>
            <a:pPr marL="0" indent="0">
              <a:buNone/>
            </a:pPr>
            <a:r>
              <a:rPr lang="en-US" dirty="0"/>
              <a:t>    It will make the house to be more eco-friendly and also make the house cooler. Solar panels are a sound investment for sustainable home improvement.</a:t>
            </a:r>
          </a:p>
          <a:p>
            <a:endParaRPr lang="en-US" dirty="0"/>
          </a:p>
          <a:p>
            <a:endParaRPr lang="en-US" dirty="0"/>
          </a:p>
          <a:p>
            <a:r>
              <a:rPr lang="en-US" dirty="0"/>
              <a:t>Planting of spider plants in the room</a:t>
            </a:r>
          </a:p>
          <a:p>
            <a:pPr marL="0" indent="0">
              <a:buNone/>
            </a:pPr>
            <a:r>
              <a:rPr lang="en-US" dirty="0"/>
              <a:t>Spider plants are known for air purification, they are planted in the chamber, </a:t>
            </a:r>
          </a:p>
          <a:p>
            <a:pPr marL="0" indent="0">
              <a:buNone/>
            </a:pPr>
            <a:r>
              <a:rPr lang="en-US" dirty="0"/>
              <a:t>and they will help to purify the air, especially in the bathroom.</a:t>
            </a:r>
          </a:p>
        </p:txBody>
      </p:sp>
    </p:spTree>
    <p:extLst>
      <p:ext uri="{BB962C8B-B14F-4D97-AF65-F5344CB8AC3E}">
        <p14:creationId xmlns:p14="http://schemas.microsoft.com/office/powerpoint/2010/main" val="3863193358"/>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2122A-016C-4479-877D-B10881A82B2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6DC78C3-7782-48B2-A08D-E4CCABB3293D}"/>
              </a:ext>
            </a:extLst>
          </p:cNvPr>
          <p:cNvSpPr>
            <a:spLocks noGrp="1"/>
          </p:cNvSpPr>
          <p:nvPr>
            <p:ph idx="1"/>
          </p:nvPr>
        </p:nvSpPr>
        <p:spPr/>
        <p:txBody>
          <a:bodyPr/>
          <a:lstStyle/>
          <a:p>
            <a:r>
              <a:rPr lang="en-US" dirty="0"/>
              <a:t> Install a cool roof.</a:t>
            </a:r>
          </a:p>
          <a:p>
            <a:pPr marL="0" indent="0">
              <a:buNone/>
            </a:pPr>
            <a:r>
              <a:rPr lang="en-US" dirty="0"/>
              <a:t>A cool roof is one that reflects the sun’s heat instead of absorbing it into your home. The effect on your cooling bill can be tremendous.</a:t>
            </a:r>
          </a:p>
        </p:txBody>
      </p:sp>
    </p:spTree>
    <p:extLst>
      <p:ext uri="{BB962C8B-B14F-4D97-AF65-F5344CB8AC3E}">
        <p14:creationId xmlns:p14="http://schemas.microsoft.com/office/powerpoint/2010/main" val="2379280371"/>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FE1EB5C7-81A8-4CBA-AE6E-B3BF73DC3895}"/>
    </a:ext>
  </a:extLst>
</a:theme>
</file>

<file path=docProps/app.xml><?xml version="1.0" encoding="utf-8"?>
<Properties xmlns="http://schemas.openxmlformats.org/officeDocument/2006/extended-properties" xmlns:vt="http://schemas.openxmlformats.org/officeDocument/2006/docPropsVTypes">
  <Template>TM04033937[[fn=Vapor Trail]]</Template>
  <TotalTime>177</TotalTime>
  <Words>1075</Words>
  <Application>Microsoft Office PowerPoint</Application>
  <PresentationFormat>Widescreen</PresentationFormat>
  <Paragraphs>77</Paragraphs>
  <Slides>49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Arial</vt:lpstr>
      <vt:lpstr>Century Gothic</vt:lpstr>
      <vt:lpstr>Times New Roman</vt:lpstr>
      <vt:lpstr>Vapor Trail</vt:lpstr>
      <vt:lpstr>CAD- Project</vt:lpstr>
      <vt:lpstr>Components of an Office Building:</vt:lpstr>
      <vt:lpstr>Entrance:</vt:lpstr>
      <vt:lpstr>PowerPoint Presentation</vt:lpstr>
      <vt:lpstr>Entrance Hall and Reception:</vt:lpstr>
      <vt:lpstr>Parking:</vt:lpstr>
      <vt:lpstr>Parking:</vt:lpstr>
      <vt:lpstr>Stairs </vt:lpstr>
      <vt:lpstr>Cafeteria:</vt:lpstr>
      <vt:lpstr>Kitchen:</vt:lpstr>
      <vt:lpstr>Offices:</vt:lpstr>
      <vt:lpstr>Workstation:</vt:lpstr>
      <vt:lpstr>Meeting and conferences rooms:</vt:lpstr>
      <vt:lpstr>Meeting and conferences rooms:</vt:lpstr>
      <vt:lpstr>Treadmill Desks:</vt:lpstr>
      <vt:lpstr>Water Closets:</vt:lpstr>
      <vt:lpstr>Praying Area:</vt:lpstr>
      <vt:lpstr>Game Room:</vt:lpstr>
      <vt:lpstr>Schedule of Opening:</vt:lpstr>
      <vt:lpstr>Dimensioning:</vt:lpstr>
      <vt:lpstr>PowerPoint Presentation</vt:lpstr>
      <vt:lpstr>Gas Supply:</vt:lpstr>
      <vt:lpstr>PowerPoint Presentation</vt:lpstr>
      <vt:lpstr>PowerPoint Presentation</vt:lpstr>
      <vt:lpstr>Elevation :</vt:lpstr>
      <vt:lpstr>Elevation Cont.</vt:lpstr>
      <vt:lpstr>PowerPoint Presentation</vt:lpstr>
      <vt:lpstr>Elevation Features:</vt:lpstr>
      <vt:lpstr>Sections:</vt:lpstr>
      <vt:lpstr>Section A-A’</vt:lpstr>
      <vt:lpstr>PowerPoint Presentation</vt:lpstr>
      <vt:lpstr>PowerPoint Presentation</vt:lpstr>
      <vt:lpstr>PowerPoint Presentation</vt:lpstr>
      <vt:lpstr>Section B-B’</vt:lpstr>
      <vt:lpstr>PowerPoint Presentation</vt:lpstr>
      <vt:lpstr>PowerPoint Presentation</vt:lpstr>
      <vt:lpstr>PowerPoint Presentation</vt:lpstr>
      <vt:lpstr>PowerPoint Presentation</vt:lpstr>
      <vt:lpstr>PowerPoint Presentation</vt:lpstr>
      <vt:lpstr>Water Supply Plan</vt:lpstr>
      <vt:lpstr>PowerPoint Presentation</vt:lpstr>
      <vt:lpstr>PowerPoint Presentation</vt:lpstr>
      <vt:lpstr>PowerPoint Presentation</vt:lpstr>
      <vt:lpstr>PowerPoint Presentation</vt:lpstr>
      <vt:lpstr>PowerPoint Presentation</vt:lpstr>
      <vt:lpstr>Legend</vt:lpstr>
      <vt:lpstr>Sustainable Building</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Components of an Office Building:</dc:title>
  <dc:creator>umer bajwa</dc:creator>
  <cp:lastModifiedBy>Talha Nadeem</cp:lastModifiedBy>
  <cp:revision>15</cp:revision>
  <dcterms:created xsi:type="dcterms:W3CDTF">2021-01-10T10:14:47Z</dcterms:created>
  <dcterms:modified xsi:type="dcterms:W3CDTF">2021-01-10T16:32:08Z</dcterms:modified>
</cp:coreProperties>
</file>